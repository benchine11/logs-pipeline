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 Bold" charset="1" panose="02020803070505020304"/>
      <p:regular r:id="rId22"/>
    </p:embeddedFont>
    <p:embeddedFont>
      <p:font typeface="Times New Roman" charset="1" panose="02020603050405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3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736002" y="1830481"/>
            <a:ext cx="1902400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25735" y="246557"/>
            <a:ext cx="2174482" cy="1081686"/>
          </a:xfrm>
          <a:custGeom>
            <a:avLst/>
            <a:gdLst/>
            <a:ahLst/>
            <a:cxnLst/>
            <a:rect r="r" b="b" t="t" l="l"/>
            <a:pathLst>
              <a:path h="1081686" w="2174482">
                <a:moveTo>
                  <a:pt x="0" y="0"/>
                </a:moveTo>
                <a:lnTo>
                  <a:pt x="2174482" y="0"/>
                </a:lnTo>
                <a:lnTo>
                  <a:pt x="2174482" y="1081686"/>
                </a:lnTo>
                <a:lnTo>
                  <a:pt x="0" y="1081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572" r="0" b="-58454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263806" y="9229725"/>
            <a:ext cx="390223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121956" y="9244012"/>
            <a:ext cx="390223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295292" y="4685509"/>
            <a:ext cx="13733929" cy="2077241"/>
            <a:chOff x="0" y="0"/>
            <a:chExt cx="3617167" cy="547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7166" cy="547092"/>
            </a:xfrm>
            <a:custGeom>
              <a:avLst/>
              <a:gdLst/>
              <a:ahLst/>
              <a:cxnLst/>
              <a:rect r="r" b="b" t="t" l="l"/>
              <a:pathLst>
                <a:path h="547092" w="3617166">
                  <a:moveTo>
                    <a:pt x="29877" y="0"/>
                  </a:moveTo>
                  <a:lnTo>
                    <a:pt x="3587290" y="0"/>
                  </a:lnTo>
                  <a:cubicBezTo>
                    <a:pt x="3603790" y="0"/>
                    <a:pt x="3617166" y="13376"/>
                    <a:pt x="3617166" y="29877"/>
                  </a:cubicBezTo>
                  <a:lnTo>
                    <a:pt x="3617166" y="517216"/>
                  </a:lnTo>
                  <a:cubicBezTo>
                    <a:pt x="3617166" y="525140"/>
                    <a:pt x="3614019" y="532739"/>
                    <a:pt x="3608416" y="538342"/>
                  </a:cubicBezTo>
                  <a:cubicBezTo>
                    <a:pt x="3602813" y="543945"/>
                    <a:pt x="3595213" y="547092"/>
                    <a:pt x="3587290" y="547092"/>
                  </a:cubicBezTo>
                  <a:lnTo>
                    <a:pt x="29877" y="547092"/>
                  </a:lnTo>
                  <a:cubicBezTo>
                    <a:pt x="13376" y="547092"/>
                    <a:pt x="0" y="533716"/>
                    <a:pt x="0" y="517216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solidFill>
              <a:srgbClr val="166FE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617167" cy="60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968956" y="149612"/>
            <a:ext cx="1528469" cy="1528469"/>
          </a:xfrm>
          <a:custGeom>
            <a:avLst/>
            <a:gdLst/>
            <a:ahLst/>
            <a:cxnLst/>
            <a:rect r="r" b="b" t="t" l="l"/>
            <a:pathLst>
              <a:path h="1528469" w="1528469">
                <a:moveTo>
                  <a:pt x="0" y="0"/>
                </a:moveTo>
                <a:lnTo>
                  <a:pt x="1528469" y="0"/>
                </a:lnTo>
                <a:lnTo>
                  <a:pt x="1528469" y="1528469"/>
                </a:lnTo>
                <a:lnTo>
                  <a:pt x="0" y="1528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95292" y="4876404"/>
            <a:ext cx="1373392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Conception et implémentation d’un pipeline</a:t>
            </a:r>
          </a:p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 logs distribué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20235" y="668390"/>
            <a:ext cx="824752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Royaume du Maroc Ministère de l’Enseignement Supérieur, de la Recherche Scientifique et de l’Innovation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6751" y="2720184"/>
            <a:ext cx="1549101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UNIVERSITÉ ABDELMALEK SAADI 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ECOLE NATIONALE DES SCIENCES APPLIQUÉES – TANGER 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ANNÉE ACADÉMIQUE 2025/2026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64817" y="8107044"/>
            <a:ext cx="270021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Effectué par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64817" y="8535035"/>
            <a:ext cx="270021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BENCHINE Abdelilah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48290" y="8140382"/>
            <a:ext cx="368608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Encadré par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11776" y="8568372"/>
            <a:ext cx="372259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BADIR Hassan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8494" y="6864360"/>
            <a:ext cx="1549101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Projet Big Data / Data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73402"/>
            <a:ext cx="7478486" cy="772886"/>
            <a:chOff x="0" y="0"/>
            <a:chExt cx="1969642" cy="203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4868" y="3375852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5"/>
                </a:lnTo>
                <a:lnTo>
                  <a:pt x="0" y="567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4193720"/>
            <a:ext cx="7478486" cy="772886"/>
            <a:chOff x="0" y="0"/>
            <a:chExt cx="1969642" cy="2035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04868" y="4296170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4868" y="6127692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780814" y="3273402"/>
            <a:ext cx="7478486" cy="772886"/>
            <a:chOff x="0" y="0"/>
            <a:chExt cx="1969642" cy="2035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056983" y="3391374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5" y="0"/>
                </a:lnTo>
                <a:lnTo>
                  <a:pt x="567985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56983" y="5214256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5" y="0"/>
                </a:lnTo>
                <a:lnTo>
                  <a:pt x="567985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780814" y="4193720"/>
            <a:ext cx="7478486" cy="772886"/>
            <a:chOff x="0" y="0"/>
            <a:chExt cx="1969642" cy="2035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056983" y="4296170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5" y="0"/>
                </a:lnTo>
                <a:lnTo>
                  <a:pt x="567985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8700" y="5109481"/>
            <a:ext cx="7478486" cy="772886"/>
            <a:chOff x="0" y="0"/>
            <a:chExt cx="1969642" cy="2035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04868" y="5214256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780814" y="5109481"/>
            <a:ext cx="7478486" cy="772886"/>
            <a:chOff x="0" y="0"/>
            <a:chExt cx="1969642" cy="2035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80814" y="6025242"/>
            <a:ext cx="7478486" cy="772886"/>
            <a:chOff x="0" y="0"/>
            <a:chExt cx="1969642" cy="2035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6025242"/>
            <a:ext cx="7478486" cy="772886"/>
            <a:chOff x="0" y="0"/>
            <a:chExt cx="1969642" cy="2035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80814" y="6941002"/>
            <a:ext cx="7478486" cy="772886"/>
            <a:chOff x="0" y="0"/>
            <a:chExt cx="1969642" cy="2035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" y="6941002"/>
            <a:ext cx="7478486" cy="772886"/>
            <a:chOff x="0" y="0"/>
            <a:chExt cx="1969642" cy="2035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0056983" y="6127692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5" y="0"/>
                </a:lnTo>
                <a:lnTo>
                  <a:pt x="567985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01616" y="7043452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056983" y="7064827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5" y="0"/>
                </a:lnTo>
                <a:lnTo>
                  <a:pt x="567985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780814" y="7856763"/>
            <a:ext cx="7478486" cy="772886"/>
            <a:chOff x="0" y="0"/>
            <a:chExt cx="1969642" cy="20355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0056983" y="7961538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5" y="0"/>
                </a:lnTo>
                <a:lnTo>
                  <a:pt x="567985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028700" y="7856763"/>
            <a:ext cx="7478486" cy="772886"/>
            <a:chOff x="0" y="0"/>
            <a:chExt cx="1969642" cy="20355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69642" cy="203558"/>
            </a:xfrm>
            <a:custGeom>
              <a:avLst/>
              <a:gdLst/>
              <a:ahLst/>
              <a:cxnLst/>
              <a:rect r="r" b="b" t="t" l="l"/>
              <a:pathLst>
                <a:path h="203558" w="1969642">
                  <a:moveTo>
                    <a:pt x="20705" y="0"/>
                  </a:moveTo>
                  <a:lnTo>
                    <a:pt x="1948938" y="0"/>
                  </a:lnTo>
                  <a:cubicBezTo>
                    <a:pt x="1954429" y="0"/>
                    <a:pt x="1959695" y="2181"/>
                    <a:pt x="1963578" y="6064"/>
                  </a:cubicBezTo>
                  <a:cubicBezTo>
                    <a:pt x="1967461" y="9947"/>
                    <a:pt x="1969642" y="15213"/>
                    <a:pt x="1969642" y="20705"/>
                  </a:cubicBezTo>
                  <a:lnTo>
                    <a:pt x="1969642" y="182854"/>
                  </a:lnTo>
                  <a:cubicBezTo>
                    <a:pt x="1969642" y="188345"/>
                    <a:pt x="1967461" y="193611"/>
                    <a:pt x="1963578" y="197494"/>
                  </a:cubicBezTo>
                  <a:cubicBezTo>
                    <a:pt x="1959695" y="201377"/>
                    <a:pt x="1954429" y="203558"/>
                    <a:pt x="1948938" y="203558"/>
                  </a:cubicBezTo>
                  <a:lnTo>
                    <a:pt x="20705" y="203558"/>
                  </a:lnTo>
                  <a:cubicBezTo>
                    <a:pt x="15213" y="203558"/>
                    <a:pt x="9947" y="201377"/>
                    <a:pt x="6064" y="197494"/>
                  </a:cubicBezTo>
                  <a:cubicBezTo>
                    <a:pt x="2181" y="193611"/>
                    <a:pt x="0" y="188345"/>
                    <a:pt x="0" y="182854"/>
                  </a:cubicBezTo>
                  <a:lnTo>
                    <a:pt x="0" y="20705"/>
                  </a:lnTo>
                  <a:cubicBezTo>
                    <a:pt x="0" y="15213"/>
                    <a:pt x="2181" y="9947"/>
                    <a:pt x="6064" y="6064"/>
                  </a:cubicBezTo>
                  <a:cubicBezTo>
                    <a:pt x="9947" y="2181"/>
                    <a:pt x="15213" y="0"/>
                    <a:pt x="207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969642" cy="2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304868" y="7959213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398494" y="911202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Sommaire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260127" y="3396341"/>
            <a:ext cx="37026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Contexte et motivation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15493" y="3411864"/>
            <a:ext cx="30825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Objectifs du projet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60127" y="4280125"/>
            <a:ext cx="34674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utilisées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012241" y="4280125"/>
            <a:ext cx="52237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Architecture globale du pipeline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260127" y="5195886"/>
            <a:ext cx="48683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Ingestion des données - Kafka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12241" y="5195886"/>
            <a:ext cx="60522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Génération et consommation des logs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260127" y="6111647"/>
            <a:ext cx="46838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Traitement Spark Streaming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012241" y="6111647"/>
            <a:ext cx="43491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Stockage distribué - HDFS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260127" y="7027408"/>
            <a:ext cx="48683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Ingestion des données - Kafka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012241" y="7027408"/>
            <a:ext cx="60522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Génération et consommation des logs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60127" y="7943168"/>
            <a:ext cx="48683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Ingestion des données - Kafka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012241" y="7943168"/>
            <a:ext cx="60522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Génération et consommation des logs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31738">
            <a:off x="-204723" y="-912271"/>
            <a:ext cx="4710160" cy="9258300"/>
          </a:xfrm>
          <a:custGeom>
            <a:avLst/>
            <a:gdLst/>
            <a:ahLst/>
            <a:cxnLst/>
            <a:rect r="r" b="b" t="t" l="l"/>
            <a:pathLst>
              <a:path h="9258300" w="4710160">
                <a:moveTo>
                  <a:pt x="0" y="0"/>
                </a:moveTo>
                <a:lnTo>
                  <a:pt x="4710161" y="0"/>
                </a:lnTo>
                <a:lnTo>
                  <a:pt x="471016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08067" y="2390395"/>
            <a:ext cx="6671866" cy="351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Pou</a:t>
            </a:r>
            <a:r>
              <a:rPr lang="en-US" b="true" sz="99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rquoi ce projet 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232897">
            <a:off x="13750260" y="-618639"/>
            <a:ext cx="3140106" cy="6172199"/>
          </a:xfrm>
          <a:custGeom>
            <a:avLst/>
            <a:gdLst/>
            <a:ahLst/>
            <a:cxnLst/>
            <a:rect r="r" b="b" t="t" l="l"/>
            <a:pathLst>
              <a:path h="6172199" w="3140106">
                <a:moveTo>
                  <a:pt x="0" y="0"/>
                </a:moveTo>
                <a:lnTo>
                  <a:pt x="3140106" y="0"/>
                </a:lnTo>
                <a:lnTo>
                  <a:pt x="3140106" y="6172199"/>
                </a:lnTo>
                <a:lnTo>
                  <a:pt x="0" y="617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71876">
            <a:off x="7055186" y="6076936"/>
            <a:ext cx="2849996" cy="5601959"/>
          </a:xfrm>
          <a:custGeom>
            <a:avLst/>
            <a:gdLst/>
            <a:ahLst/>
            <a:cxnLst/>
            <a:rect r="r" b="b" t="t" l="l"/>
            <a:pathLst>
              <a:path h="5601959" w="2849996">
                <a:moveTo>
                  <a:pt x="0" y="0"/>
                </a:moveTo>
                <a:lnTo>
                  <a:pt x="2849997" y="0"/>
                </a:lnTo>
                <a:lnTo>
                  <a:pt x="2849997" y="5601959"/>
                </a:lnTo>
                <a:lnTo>
                  <a:pt x="0" y="560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49732">
            <a:off x="13231645" y="6934059"/>
            <a:ext cx="1614483" cy="3173430"/>
          </a:xfrm>
          <a:custGeom>
            <a:avLst/>
            <a:gdLst/>
            <a:ahLst/>
            <a:cxnLst/>
            <a:rect r="r" b="b" t="t" l="l"/>
            <a:pathLst>
              <a:path h="3173430" w="1614483">
                <a:moveTo>
                  <a:pt x="0" y="0"/>
                </a:moveTo>
                <a:lnTo>
                  <a:pt x="1614483" y="0"/>
                </a:lnTo>
                <a:lnTo>
                  <a:pt x="1614483" y="3173430"/>
                </a:lnTo>
                <a:lnTo>
                  <a:pt x="0" y="3173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1302" y="3185092"/>
            <a:ext cx="5325696" cy="5549333"/>
            <a:chOff x="0" y="0"/>
            <a:chExt cx="1402653" cy="146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2653" cy="1461553"/>
            </a:xfrm>
            <a:custGeom>
              <a:avLst/>
              <a:gdLst/>
              <a:ahLst/>
              <a:cxnLst/>
              <a:rect r="r" b="b" t="t" l="l"/>
              <a:pathLst>
                <a:path h="1461553" w="1402653">
                  <a:moveTo>
                    <a:pt x="29074" y="0"/>
                  </a:moveTo>
                  <a:lnTo>
                    <a:pt x="1373579" y="0"/>
                  </a:lnTo>
                  <a:cubicBezTo>
                    <a:pt x="1381290" y="0"/>
                    <a:pt x="1388685" y="3063"/>
                    <a:pt x="1394137" y="8516"/>
                  </a:cubicBezTo>
                  <a:cubicBezTo>
                    <a:pt x="1399589" y="13968"/>
                    <a:pt x="1402653" y="21363"/>
                    <a:pt x="1402653" y="29074"/>
                  </a:cubicBezTo>
                  <a:lnTo>
                    <a:pt x="1402653" y="1432479"/>
                  </a:lnTo>
                  <a:cubicBezTo>
                    <a:pt x="1402653" y="1448536"/>
                    <a:pt x="1389636" y="1461553"/>
                    <a:pt x="1373579" y="1461553"/>
                  </a:cubicBezTo>
                  <a:lnTo>
                    <a:pt x="29074" y="1461553"/>
                  </a:lnTo>
                  <a:cubicBezTo>
                    <a:pt x="21363" y="1461553"/>
                    <a:pt x="13968" y="1458490"/>
                    <a:pt x="8516" y="1453037"/>
                  </a:cubicBezTo>
                  <a:cubicBezTo>
                    <a:pt x="3063" y="1447585"/>
                    <a:pt x="0" y="1440190"/>
                    <a:pt x="0" y="1432479"/>
                  </a:cubicBezTo>
                  <a:lnTo>
                    <a:pt x="0" y="29074"/>
                  </a:lnTo>
                  <a:cubicBezTo>
                    <a:pt x="0" y="21363"/>
                    <a:pt x="3063" y="13968"/>
                    <a:pt x="8516" y="8516"/>
                  </a:cubicBezTo>
                  <a:cubicBezTo>
                    <a:pt x="13968" y="3063"/>
                    <a:pt x="21363" y="0"/>
                    <a:pt x="29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02653" cy="1518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20116" y="4619625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8494" y="941955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Contexte et 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41302" y="3278471"/>
            <a:ext cx="5325696" cy="519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Explosion du volume de donné</a:t>
            </a: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 générées par les applications modernes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Importance des logs pour :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supervision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détection d’erreurs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analyse du trafic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Limites des systèmes centralisés classiques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0885" y="3316571"/>
            <a:ext cx="6671866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Pou</a:t>
            </a:r>
            <a:r>
              <a:rPr lang="en-US" b="true" sz="5000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rquoi ce projet ?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86350" y="3378645"/>
            <a:ext cx="8115300" cy="943757"/>
            <a:chOff x="0" y="0"/>
            <a:chExt cx="2137363" cy="248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363" cy="248561"/>
            </a:xfrm>
            <a:custGeom>
              <a:avLst/>
              <a:gdLst/>
              <a:ahLst/>
              <a:cxnLst/>
              <a:rect r="r" b="b" t="t" l="l"/>
              <a:pathLst>
                <a:path h="248561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229482"/>
                  </a:lnTo>
                  <a:cubicBezTo>
                    <a:pt x="2137363" y="240019"/>
                    <a:pt x="2128821" y="248561"/>
                    <a:pt x="2118283" y="248561"/>
                  </a:cubicBezTo>
                  <a:lnTo>
                    <a:pt x="19080" y="248561"/>
                  </a:lnTo>
                  <a:cubicBezTo>
                    <a:pt x="14020" y="248561"/>
                    <a:pt x="9167" y="246551"/>
                    <a:pt x="5588" y="242973"/>
                  </a:cubicBezTo>
                  <a:cubicBezTo>
                    <a:pt x="2010" y="239395"/>
                    <a:pt x="0" y="234542"/>
                    <a:pt x="0" y="229482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37363" cy="30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86350" y="4560527"/>
            <a:ext cx="8115300" cy="935445"/>
            <a:chOff x="0" y="0"/>
            <a:chExt cx="2137363" cy="246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363" cy="246372"/>
            </a:xfrm>
            <a:custGeom>
              <a:avLst/>
              <a:gdLst/>
              <a:ahLst/>
              <a:cxnLst/>
              <a:rect r="r" b="b" t="t" l="l"/>
              <a:pathLst>
                <a:path h="246372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227292"/>
                  </a:lnTo>
                  <a:cubicBezTo>
                    <a:pt x="2137363" y="237830"/>
                    <a:pt x="2128821" y="246372"/>
                    <a:pt x="2118283" y="246372"/>
                  </a:cubicBezTo>
                  <a:lnTo>
                    <a:pt x="19080" y="246372"/>
                  </a:lnTo>
                  <a:cubicBezTo>
                    <a:pt x="8542" y="246372"/>
                    <a:pt x="0" y="237830"/>
                    <a:pt x="0" y="227292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37363" cy="30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86350" y="5734097"/>
            <a:ext cx="8115300" cy="935445"/>
            <a:chOff x="0" y="0"/>
            <a:chExt cx="2137363" cy="2463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363" cy="246372"/>
            </a:xfrm>
            <a:custGeom>
              <a:avLst/>
              <a:gdLst/>
              <a:ahLst/>
              <a:cxnLst/>
              <a:rect r="r" b="b" t="t" l="l"/>
              <a:pathLst>
                <a:path h="246372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227292"/>
                  </a:lnTo>
                  <a:cubicBezTo>
                    <a:pt x="2137363" y="237830"/>
                    <a:pt x="2128821" y="246372"/>
                    <a:pt x="2118283" y="246372"/>
                  </a:cubicBezTo>
                  <a:lnTo>
                    <a:pt x="19080" y="246372"/>
                  </a:lnTo>
                  <a:cubicBezTo>
                    <a:pt x="8542" y="246372"/>
                    <a:pt x="0" y="237830"/>
                    <a:pt x="0" y="227292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37363" cy="30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362518" y="3563916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362518" y="4739601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62518" y="5885079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086350" y="6907667"/>
            <a:ext cx="8115300" cy="1050925"/>
            <a:chOff x="0" y="0"/>
            <a:chExt cx="2137363" cy="2767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7363" cy="276787"/>
            </a:xfrm>
            <a:custGeom>
              <a:avLst/>
              <a:gdLst/>
              <a:ahLst/>
              <a:cxnLst/>
              <a:rect r="r" b="b" t="t" l="l"/>
              <a:pathLst>
                <a:path h="276787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257707"/>
                  </a:lnTo>
                  <a:cubicBezTo>
                    <a:pt x="2137363" y="268245"/>
                    <a:pt x="2128821" y="276787"/>
                    <a:pt x="2118283" y="276787"/>
                  </a:cubicBezTo>
                  <a:lnTo>
                    <a:pt x="19080" y="276787"/>
                  </a:lnTo>
                  <a:cubicBezTo>
                    <a:pt x="8542" y="276787"/>
                    <a:pt x="0" y="268245"/>
                    <a:pt x="0" y="25770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37363" cy="333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362518" y="7149136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98494" y="93072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Objectifs du projet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23279" y="3603434"/>
            <a:ext cx="630857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Concevoi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 un pipeline Big Data complet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3279" y="4783796"/>
            <a:ext cx="630857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iter des logs en temps réel et en batch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23279" y="5924597"/>
            <a:ext cx="630857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tiliser des technologies Big Data industrielles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23279" y="6969579"/>
            <a:ext cx="6308577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Compr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endre les enjeux de “scalabilité”, “tolérance aux pannes”, “stockage distribué”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14283" y="8099238"/>
            <a:ext cx="2832947" cy="1159062"/>
            <a:chOff x="0" y="0"/>
            <a:chExt cx="746126" cy="3052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37731" y="8099238"/>
            <a:ext cx="2832947" cy="1159062"/>
            <a:chOff x="0" y="0"/>
            <a:chExt cx="746126" cy="3052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61178" y="8099238"/>
            <a:ext cx="2832947" cy="1159062"/>
            <a:chOff x="0" y="0"/>
            <a:chExt cx="746126" cy="305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84625" y="8099238"/>
            <a:ext cx="2832947" cy="1159062"/>
            <a:chOff x="0" y="0"/>
            <a:chExt cx="746126" cy="3052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009368" y="8099238"/>
            <a:ext cx="2832947" cy="1159062"/>
            <a:chOff x="0" y="0"/>
            <a:chExt cx="746126" cy="3052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150798" y="3576991"/>
            <a:ext cx="1995848" cy="3133018"/>
          </a:xfrm>
          <a:custGeom>
            <a:avLst/>
            <a:gdLst/>
            <a:ahLst/>
            <a:cxnLst/>
            <a:rect r="r" b="b" t="t" l="l"/>
            <a:pathLst>
              <a:path h="3133018" w="1995848">
                <a:moveTo>
                  <a:pt x="0" y="0"/>
                </a:moveTo>
                <a:lnTo>
                  <a:pt x="1995848" y="0"/>
                </a:lnTo>
                <a:lnTo>
                  <a:pt x="1995848" y="3133018"/>
                </a:lnTo>
                <a:lnTo>
                  <a:pt x="0" y="3133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937731" y="3576991"/>
            <a:ext cx="2832947" cy="3133018"/>
          </a:xfrm>
          <a:custGeom>
            <a:avLst/>
            <a:gdLst/>
            <a:ahLst/>
            <a:cxnLst/>
            <a:rect r="r" b="b" t="t" l="l"/>
            <a:pathLst>
              <a:path h="3133018" w="2832947">
                <a:moveTo>
                  <a:pt x="0" y="0"/>
                </a:moveTo>
                <a:lnTo>
                  <a:pt x="2832947" y="0"/>
                </a:lnTo>
                <a:lnTo>
                  <a:pt x="2832947" y="3133018"/>
                </a:lnTo>
                <a:lnTo>
                  <a:pt x="0" y="3133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915" t="0" r="-48693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961178" y="3753373"/>
            <a:ext cx="2832947" cy="2832947"/>
          </a:xfrm>
          <a:custGeom>
            <a:avLst/>
            <a:gdLst/>
            <a:ahLst/>
            <a:cxnLst/>
            <a:rect r="r" b="b" t="t" l="l"/>
            <a:pathLst>
              <a:path h="2832947" w="2832947">
                <a:moveTo>
                  <a:pt x="0" y="0"/>
                </a:moveTo>
                <a:lnTo>
                  <a:pt x="2832947" y="0"/>
                </a:lnTo>
                <a:lnTo>
                  <a:pt x="2832947" y="2832947"/>
                </a:lnTo>
                <a:lnTo>
                  <a:pt x="0" y="2832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00684" y="5539069"/>
            <a:ext cx="2393921" cy="2341879"/>
          </a:xfrm>
          <a:custGeom>
            <a:avLst/>
            <a:gdLst/>
            <a:ahLst/>
            <a:cxnLst/>
            <a:rect r="r" b="b" t="t" l="l"/>
            <a:pathLst>
              <a:path h="2341879" w="2393921">
                <a:moveTo>
                  <a:pt x="0" y="0"/>
                </a:moveTo>
                <a:lnTo>
                  <a:pt x="2393921" y="0"/>
                </a:lnTo>
                <a:lnTo>
                  <a:pt x="2393921" y="2341879"/>
                </a:lnTo>
                <a:lnTo>
                  <a:pt x="0" y="2341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00684" y="2628936"/>
            <a:ext cx="2393921" cy="2267925"/>
          </a:xfrm>
          <a:custGeom>
            <a:avLst/>
            <a:gdLst/>
            <a:ahLst/>
            <a:cxnLst/>
            <a:rect r="r" b="b" t="t" l="l"/>
            <a:pathLst>
              <a:path h="2267925" w="2393921">
                <a:moveTo>
                  <a:pt x="0" y="0"/>
                </a:moveTo>
                <a:lnTo>
                  <a:pt x="2393921" y="0"/>
                </a:lnTo>
                <a:lnTo>
                  <a:pt x="2393921" y="2267924"/>
                </a:lnTo>
                <a:lnTo>
                  <a:pt x="0" y="2267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176540" y="4803345"/>
            <a:ext cx="642209" cy="642209"/>
          </a:xfrm>
          <a:custGeom>
            <a:avLst/>
            <a:gdLst/>
            <a:ahLst/>
            <a:cxnLst/>
            <a:rect r="r" b="b" t="t" l="l"/>
            <a:pathLst>
              <a:path h="642209" w="642209">
                <a:moveTo>
                  <a:pt x="0" y="0"/>
                </a:moveTo>
                <a:lnTo>
                  <a:pt x="642209" y="0"/>
                </a:lnTo>
                <a:lnTo>
                  <a:pt x="642209" y="642210"/>
                </a:lnTo>
                <a:lnTo>
                  <a:pt x="0" y="6422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059763" y="3927690"/>
            <a:ext cx="2732157" cy="3035730"/>
          </a:xfrm>
          <a:custGeom>
            <a:avLst/>
            <a:gdLst/>
            <a:ahLst/>
            <a:cxnLst/>
            <a:rect r="r" b="b" t="t" l="l"/>
            <a:pathLst>
              <a:path h="3035730" w="2732157">
                <a:moveTo>
                  <a:pt x="0" y="0"/>
                </a:moveTo>
                <a:lnTo>
                  <a:pt x="2732157" y="0"/>
                </a:lnTo>
                <a:lnTo>
                  <a:pt x="2732157" y="3035729"/>
                </a:lnTo>
                <a:lnTo>
                  <a:pt x="0" y="30357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98494" y="895748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Technologies utilisées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76036" y="8215219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Ingestion temps réel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76757" y="8357459"/>
            <a:ext cx="1909441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Structed Streaming + Batch Analytics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26607" y="8215219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Stockage distribué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55747" y="8215219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Génération des logs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69104" y="8434294"/>
            <a:ext cx="190944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Orchestration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4936" y="4193578"/>
            <a:ext cx="1343043" cy="1358325"/>
          </a:xfrm>
          <a:custGeom>
            <a:avLst/>
            <a:gdLst/>
            <a:ahLst/>
            <a:cxnLst/>
            <a:rect r="r" b="b" t="t" l="l"/>
            <a:pathLst>
              <a:path h="1358325" w="1343043">
                <a:moveTo>
                  <a:pt x="0" y="0"/>
                </a:moveTo>
                <a:lnTo>
                  <a:pt x="1343043" y="0"/>
                </a:lnTo>
                <a:lnTo>
                  <a:pt x="1343043" y="1358325"/>
                </a:lnTo>
                <a:lnTo>
                  <a:pt x="0" y="1358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9984" y="2880050"/>
            <a:ext cx="2832947" cy="1159062"/>
            <a:chOff x="0" y="0"/>
            <a:chExt cx="746126" cy="3052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11053" y="2880050"/>
            <a:ext cx="2832947" cy="1159062"/>
            <a:chOff x="0" y="0"/>
            <a:chExt cx="746126" cy="3052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44225" y="2880050"/>
            <a:ext cx="2832947" cy="1159062"/>
            <a:chOff x="0" y="0"/>
            <a:chExt cx="746126" cy="3052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32220" y="6617088"/>
            <a:ext cx="2832947" cy="1159062"/>
            <a:chOff x="0" y="0"/>
            <a:chExt cx="746126" cy="3052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11278" y="6617088"/>
            <a:ext cx="2832947" cy="1159062"/>
            <a:chOff x="0" y="0"/>
            <a:chExt cx="746126" cy="3052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34705" y="6617088"/>
            <a:ext cx="2832947" cy="1159062"/>
            <a:chOff x="0" y="0"/>
            <a:chExt cx="746126" cy="3052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126" cy="305267"/>
            </a:xfrm>
            <a:custGeom>
              <a:avLst/>
              <a:gdLst/>
              <a:ahLst/>
              <a:cxnLst/>
              <a:rect r="r" b="b" t="t" l="l"/>
              <a:pathLst>
                <a:path h="305267" w="746126">
                  <a:moveTo>
                    <a:pt x="54656" y="0"/>
                  </a:moveTo>
                  <a:lnTo>
                    <a:pt x="691470" y="0"/>
                  </a:lnTo>
                  <a:cubicBezTo>
                    <a:pt x="705965" y="0"/>
                    <a:pt x="719867" y="5758"/>
                    <a:pt x="730118" y="16008"/>
                  </a:cubicBezTo>
                  <a:cubicBezTo>
                    <a:pt x="740368" y="26259"/>
                    <a:pt x="746126" y="40161"/>
                    <a:pt x="746126" y="54656"/>
                  </a:cubicBezTo>
                  <a:lnTo>
                    <a:pt x="746126" y="250611"/>
                  </a:lnTo>
                  <a:cubicBezTo>
                    <a:pt x="746126" y="265107"/>
                    <a:pt x="740368" y="279009"/>
                    <a:pt x="730118" y="289259"/>
                  </a:cubicBezTo>
                  <a:cubicBezTo>
                    <a:pt x="719867" y="299509"/>
                    <a:pt x="705965" y="305267"/>
                    <a:pt x="691470" y="305267"/>
                  </a:cubicBezTo>
                  <a:lnTo>
                    <a:pt x="54656" y="305267"/>
                  </a:lnTo>
                  <a:cubicBezTo>
                    <a:pt x="40161" y="305267"/>
                    <a:pt x="26259" y="299509"/>
                    <a:pt x="16008" y="289259"/>
                  </a:cubicBezTo>
                  <a:cubicBezTo>
                    <a:pt x="5758" y="279009"/>
                    <a:pt x="0" y="265107"/>
                    <a:pt x="0" y="250611"/>
                  </a:cubicBezTo>
                  <a:lnTo>
                    <a:pt x="0" y="54656"/>
                  </a:lnTo>
                  <a:cubicBezTo>
                    <a:pt x="0" y="40161"/>
                    <a:pt x="5758" y="26259"/>
                    <a:pt x="16008" y="16008"/>
                  </a:cubicBezTo>
                  <a:cubicBezTo>
                    <a:pt x="26259" y="5758"/>
                    <a:pt x="40161" y="0"/>
                    <a:pt x="546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46126" cy="362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300427" y="7899975"/>
            <a:ext cx="1501503" cy="1490583"/>
          </a:xfrm>
          <a:custGeom>
            <a:avLst/>
            <a:gdLst/>
            <a:ahLst/>
            <a:cxnLst/>
            <a:rect r="r" b="b" t="t" l="l"/>
            <a:pathLst>
              <a:path h="1490583" w="1501503">
                <a:moveTo>
                  <a:pt x="0" y="0"/>
                </a:moveTo>
                <a:lnTo>
                  <a:pt x="1501503" y="0"/>
                </a:lnTo>
                <a:lnTo>
                  <a:pt x="1501503" y="1490584"/>
                </a:lnTo>
                <a:lnTo>
                  <a:pt x="0" y="1490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48589" y="7899975"/>
            <a:ext cx="1358325" cy="1358325"/>
          </a:xfrm>
          <a:custGeom>
            <a:avLst/>
            <a:gdLst/>
            <a:ahLst/>
            <a:cxnLst/>
            <a:rect r="r" b="b" t="t" l="l"/>
            <a:pathLst>
              <a:path h="1358325" w="1358325">
                <a:moveTo>
                  <a:pt x="0" y="0"/>
                </a:moveTo>
                <a:lnTo>
                  <a:pt x="1358325" y="0"/>
                </a:lnTo>
                <a:lnTo>
                  <a:pt x="1358325" y="1358325"/>
                </a:lnTo>
                <a:lnTo>
                  <a:pt x="0" y="1358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769532" y="7899975"/>
            <a:ext cx="1358325" cy="1358325"/>
          </a:xfrm>
          <a:custGeom>
            <a:avLst/>
            <a:gdLst/>
            <a:ahLst/>
            <a:cxnLst/>
            <a:rect r="r" b="b" t="t" l="l"/>
            <a:pathLst>
              <a:path h="1358325" w="1358325">
                <a:moveTo>
                  <a:pt x="0" y="0"/>
                </a:moveTo>
                <a:lnTo>
                  <a:pt x="1358324" y="0"/>
                </a:lnTo>
                <a:lnTo>
                  <a:pt x="1358324" y="1358325"/>
                </a:lnTo>
                <a:lnTo>
                  <a:pt x="0" y="1358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685173" y="4193578"/>
            <a:ext cx="1377622" cy="1327683"/>
          </a:xfrm>
          <a:custGeom>
            <a:avLst/>
            <a:gdLst/>
            <a:ahLst/>
            <a:cxnLst/>
            <a:rect r="r" b="b" t="t" l="l"/>
            <a:pathLst>
              <a:path h="1327683" w="1377622">
                <a:moveTo>
                  <a:pt x="0" y="0"/>
                </a:moveTo>
                <a:lnTo>
                  <a:pt x="1377622" y="0"/>
                </a:lnTo>
                <a:lnTo>
                  <a:pt x="1377622" y="1327683"/>
                </a:lnTo>
                <a:lnTo>
                  <a:pt x="0" y="1327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983361" y="4193578"/>
            <a:ext cx="1486431" cy="1486431"/>
          </a:xfrm>
          <a:custGeom>
            <a:avLst/>
            <a:gdLst/>
            <a:ahLst/>
            <a:cxnLst/>
            <a:rect r="r" b="b" t="t" l="l"/>
            <a:pathLst>
              <a:path h="1486431" w="1486431">
                <a:moveTo>
                  <a:pt x="0" y="0"/>
                </a:moveTo>
                <a:lnTo>
                  <a:pt x="1486431" y="0"/>
                </a:lnTo>
                <a:lnTo>
                  <a:pt x="1486431" y="1486431"/>
                </a:lnTo>
                <a:lnTo>
                  <a:pt x="0" y="14864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1058505">
            <a:off x="14492549" y="3446603"/>
            <a:ext cx="1270614" cy="2747273"/>
          </a:xfrm>
          <a:custGeom>
            <a:avLst/>
            <a:gdLst/>
            <a:ahLst/>
            <a:cxnLst/>
            <a:rect r="r" b="b" t="t" l="l"/>
            <a:pathLst>
              <a:path h="2747273" w="1270614">
                <a:moveTo>
                  <a:pt x="0" y="0"/>
                </a:moveTo>
                <a:lnTo>
                  <a:pt x="1270614" y="0"/>
                </a:lnTo>
                <a:lnTo>
                  <a:pt x="1270614" y="2747274"/>
                </a:lnTo>
                <a:lnTo>
                  <a:pt x="0" y="27472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2348270">
            <a:off x="4835034" y="3003063"/>
            <a:ext cx="1153916" cy="913036"/>
          </a:xfrm>
          <a:custGeom>
            <a:avLst/>
            <a:gdLst/>
            <a:ahLst/>
            <a:cxnLst/>
            <a:rect r="r" b="b" t="t" l="l"/>
            <a:pathLst>
              <a:path h="913036" w="1153916">
                <a:moveTo>
                  <a:pt x="0" y="0"/>
                </a:moveTo>
                <a:lnTo>
                  <a:pt x="1153916" y="0"/>
                </a:lnTo>
                <a:lnTo>
                  <a:pt x="1153916" y="913036"/>
                </a:lnTo>
                <a:lnTo>
                  <a:pt x="0" y="9130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98494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Architecture globale du pipeline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41737" y="2996031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Producer Python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72806" y="2996031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Kafka Topic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logs_raw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05978" y="3093186"/>
            <a:ext cx="1909441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Spark Structured Streaming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93973" y="6733069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HDFS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curated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73031" y="6733069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Spark Batch Analytics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96458" y="6733069"/>
            <a:ext cx="190944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HDFS analytics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2348270">
            <a:off x="9464622" y="3018802"/>
            <a:ext cx="1153916" cy="913036"/>
          </a:xfrm>
          <a:custGeom>
            <a:avLst/>
            <a:gdLst/>
            <a:ahLst/>
            <a:cxnLst/>
            <a:rect r="r" b="b" t="t" l="l"/>
            <a:pathLst>
              <a:path h="913036" w="1153916">
                <a:moveTo>
                  <a:pt x="0" y="0"/>
                </a:moveTo>
                <a:lnTo>
                  <a:pt x="1153916" y="0"/>
                </a:lnTo>
                <a:lnTo>
                  <a:pt x="1153916" y="913036"/>
                </a:lnTo>
                <a:lnTo>
                  <a:pt x="0" y="9130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-8280614">
            <a:off x="11411264" y="6999716"/>
            <a:ext cx="1153916" cy="913036"/>
          </a:xfrm>
          <a:custGeom>
            <a:avLst/>
            <a:gdLst/>
            <a:ahLst/>
            <a:cxnLst/>
            <a:rect r="r" b="b" t="t" l="l"/>
            <a:pathLst>
              <a:path h="913036" w="1153916">
                <a:moveTo>
                  <a:pt x="0" y="0"/>
                </a:moveTo>
                <a:lnTo>
                  <a:pt x="1153917" y="0"/>
                </a:lnTo>
                <a:lnTo>
                  <a:pt x="1153917" y="913036"/>
                </a:lnTo>
                <a:lnTo>
                  <a:pt x="0" y="9130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-8280614">
            <a:off x="6109668" y="6926015"/>
            <a:ext cx="1326275" cy="1049415"/>
          </a:xfrm>
          <a:custGeom>
            <a:avLst/>
            <a:gdLst/>
            <a:ahLst/>
            <a:cxnLst/>
            <a:rect r="r" b="b" t="t" l="l"/>
            <a:pathLst>
              <a:path h="1049415" w="1326275">
                <a:moveTo>
                  <a:pt x="0" y="0"/>
                </a:moveTo>
                <a:lnTo>
                  <a:pt x="1326275" y="0"/>
                </a:lnTo>
                <a:lnTo>
                  <a:pt x="1326275" y="1049415"/>
                </a:lnTo>
                <a:lnTo>
                  <a:pt x="0" y="10494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61317"/>
            <a:ext cx="9512402" cy="4556129"/>
          </a:xfrm>
          <a:custGeom>
            <a:avLst/>
            <a:gdLst/>
            <a:ahLst/>
            <a:cxnLst/>
            <a:rect r="r" b="b" t="t" l="l"/>
            <a:pathLst>
              <a:path h="4556129" w="9512402">
                <a:moveTo>
                  <a:pt x="0" y="0"/>
                </a:moveTo>
                <a:lnTo>
                  <a:pt x="9512402" y="0"/>
                </a:lnTo>
                <a:lnTo>
                  <a:pt x="9512402" y="4556129"/>
                </a:lnTo>
                <a:lnTo>
                  <a:pt x="0" y="4556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68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6340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Ingestion des données avec Kafka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288977" y="3223192"/>
            <a:ext cx="5325696" cy="3573343"/>
            <a:chOff x="0" y="0"/>
            <a:chExt cx="1402653" cy="9411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2653" cy="941127"/>
            </a:xfrm>
            <a:custGeom>
              <a:avLst/>
              <a:gdLst/>
              <a:ahLst/>
              <a:cxnLst/>
              <a:rect r="r" b="b" t="t" l="l"/>
              <a:pathLst>
                <a:path h="941127" w="1402653">
                  <a:moveTo>
                    <a:pt x="29074" y="0"/>
                  </a:moveTo>
                  <a:lnTo>
                    <a:pt x="1373579" y="0"/>
                  </a:lnTo>
                  <a:cubicBezTo>
                    <a:pt x="1381290" y="0"/>
                    <a:pt x="1388685" y="3063"/>
                    <a:pt x="1394137" y="8516"/>
                  </a:cubicBezTo>
                  <a:cubicBezTo>
                    <a:pt x="1399589" y="13968"/>
                    <a:pt x="1402653" y="21363"/>
                    <a:pt x="1402653" y="29074"/>
                  </a:cubicBezTo>
                  <a:lnTo>
                    <a:pt x="1402653" y="912054"/>
                  </a:lnTo>
                  <a:cubicBezTo>
                    <a:pt x="1402653" y="919764"/>
                    <a:pt x="1399589" y="927159"/>
                    <a:pt x="1394137" y="932612"/>
                  </a:cubicBezTo>
                  <a:cubicBezTo>
                    <a:pt x="1388685" y="938064"/>
                    <a:pt x="1381290" y="941127"/>
                    <a:pt x="1373579" y="941127"/>
                  </a:cubicBezTo>
                  <a:lnTo>
                    <a:pt x="29074" y="941127"/>
                  </a:lnTo>
                  <a:cubicBezTo>
                    <a:pt x="21363" y="941127"/>
                    <a:pt x="13968" y="938064"/>
                    <a:pt x="8516" y="932612"/>
                  </a:cubicBezTo>
                  <a:cubicBezTo>
                    <a:pt x="3063" y="927159"/>
                    <a:pt x="0" y="919764"/>
                    <a:pt x="0" y="912054"/>
                  </a:cubicBezTo>
                  <a:lnTo>
                    <a:pt x="0" y="29074"/>
                  </a:lnTo>
                  <a:cubicBezTo>
                    <a:pt x="0" y="21363"/>
                    <a:pt x="3063" y="13968"/>
                    <a:pt x="8516" y="8516"/>
                  </a:cubicBezTo>
                  <a:cubicBezTo>
                    <a:pt x="13968" y="3063"/>
                    <a:pt x="21363" y="0"/>
                    <a:pt x="29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02653" cy="99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288977" y="4162425"/>
            <a:ext cx="5325696" cy="461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Réception des logs en t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emps réel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Découplage entre producteurs et consommateurs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estion fiable des flux continus</a:t>
            </a:r>
          </a:p>
          <a:p>
            <a:pPr algn="l">
              <a:lnSpc>
                <a:spcPts val="4649"/>
              </a:lnSpc>
            </a:pPr>
          </a:p>
          <a:p>
            <a:pPr algn="l">
              <a:lnSpc>
                <a:spcPts val="4649"/>
              </a:lnSpc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Topic pri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ncipal : logs_raw</a:t>
            </a:r>
          </a:p>
          <a:p>
            <a:pPr algn="l">
              <a:lnSpc>
                <a:spcPts val="4649"/>
              </a:lnSpc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🔹 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Logs au format JSON</a:t>
            </a:r>
          </a:p>
          <a:p>
            <a:pPr algn="l">
              <a:lnSpc>
                <a:spcPts val="464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283419" y="3387725"/>
            <a:ext cx="3336813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Rôle de Kafka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88977" y="6985853"/>
            <a:ext cx="5325696" cy="1485505"/>
            <a:chOff x="0" y="0"/>
            <a:chExt cx="1402653" cy="391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653" cy="391244"/>
            </a:xfrm>
            <a:custGeom>
              <a:avLst/>
              <a:gdLst/>
              <a:ahLst/>
              <a:cxnLst/>
              <a:rect r="r" b="b" t="t" l="l"/>
              <a:pathLst>
                <a:path h="391244" w="1402653">
                  <a:moveTo>
                    <a:pt x="29074" y="0"/>
                  </a:moveTo>
                  <a:lnTo>
                    <a:pt x="1373579" y="0"/>
                  </a:lnTo>
                  <a:cubicBezTo>
                    <a:pt x="1381290" y="0"/>
                    <a:pt x="1388685" y="3063"/>
                    <a:pt x="1394137" y="8516"/>
                  </a:cubicBezTo>
                  <a:cubicBezTo>
                    <a:pt x="1399589" y="13968"/>
                    <a:pt x="1402653" y="21363"/>
                    <a:pt x="1402653" y="29074"/>
                  </a:cubicBezTo>
                  <a:lnTo>
                    <a:pt x="1402653" y="362170"/>
                  </a:lnTo>
                  <a:cubicBezTo>
                    <a:pt x="1402653" y="378227"/>
                    <a:pt x="1389636" y="391244"/>
                    <a:pt x="1373579" y="391244"/>
                  </a:cubicBezTo>
                  <a:lnTo>
                    <a:pt x="29074" y="391244"/>
                  </a:lnTo>
                  <a:cubicBezTo>
                    <a:pt x="21363" y="391244"/>
                    <a:pt x="13968" y="388181"/>
                    <a:pt x="8516" y="382729"/>
                  </a:cubicBezTo>
                  <a:cubicBezTo>
                    <a:pt x="3063" y="377276"/>
                    <a:pt x="0" y="369881"/>
                    <a:pt x="0" y="362170"/>
                  </a:cubicBezTo>
                  <a:lnTo>
                    <a:pt x="0" y="29074"/>
                  </a:lnTo>
                  <a:cubicBezTo>
                    <a:pt x="0" y="21363"/>
                    <a:pt x="3063" y="13968"/>
                    <a:pt x="8516" y="8516"/>
                  </a:cubicBezTo>
                  <a:cubicBezTo>
                    <a:pt x="13968" y="3063"/>
                    <a:pt x="21363" y="0"/>
                    <a:pt x="29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402653" cy="44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007726"/>
            <a:ext cx="11301259" cy="6003794"/>
          </a:xfrm>
          <a:custGeom>
            <a:avLst/>
            <a:gdLst/>
            <a:ahLst/>
            <a:cxnLst/>
            <a:rect r="r" b="b" t="t" l="l"/>
            <a:pathLst>
              <a:path h="6003794" w="11301259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8494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Génération et consommation des logs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05382" y="8781606"/>
            <a:ext cx="6330026" cy="960803"/>
            <a:chOff x="0" y="0"/>
            <a:chExt cx="1667167" cy="2530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7167" cy="253051"/>
            </a:xfrm>
            <a:custGeom>
              <a:avLst/>
              <a:gdLst/>
              <a:ahLst/>
              <a:cxnLst/>
              <a:rect r="r" b="b" t="t" l="l"/>
              <a:pathLst>
                <a:path h="253051" w="1667167">
                  <a:moveTo>
                    <a:pt x="24461" y="0"/>
                  </a:moveTo>
                  <a:lnTo>
                    <a:pt x="1642707" y="0"/>
                  </a:lnTo>
                  <a:cubicBezTo>
                    <a:pt x="1656216" y="0"/>
                    <a:pt x="1667167" y="10952"/>
                    <a:pt x="1667167" y="24461"/>
                  </a:cubicBezTo>
                  <a:lnTo>
                    <a:pt x="1667167" y="228590"/>
                  </a:lnTo>
                  <a:cubicBezTo>
                    <a:pt x="1667167" y="242099"/>
                    <a:pt x="1656216" y="253051"/>
                    <a:pt x="1642707" y="253051"/>
                  </a:cubicBezTo>
                  <a:lnTo>
                    <a:pt x="24461" y="253051"/>
                  </a:lnTo>
                  <a:cubicBezTo>
                    <a:pt x="10952" y="253051"/>
                    <a:pt x="0" y="242099"/>
                    <a:pt x="0" y="228590"/>
                  </a:cubicBezTo>
                  <a:lnTo>
                    <a:pt x="0" y="24461"/>
                  </a:lnTo>
                  <a:cubicBezTo>
                    <a:pt x="0" y="10952"/>
                    <a:pt x="10952" y="0"/>
                    <a:pt x="244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667167" cy="310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67178" y="9009506"/>
            <a:ext cx="586445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Producer Python générant des logs HTTP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89767" y="9009506"/>
            <a:ext cx="476125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Vérification via Kafka Consumer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01185" y="2062446"/>
            <a:ext cx="568563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Simulation du trafic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034392" y="8773580"/>
            <a:ext cx="6330026" cy="960803"/>
            <a:chOff x="0" y="0"/>
            <a:chExt cx="1667167" cy="253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7167" cy="253051"/>
            </a:xfrm>
            <a:custGeom>
              <a:avLst/>
              <a:gdLst/>
              <a:ahLst/>
              <a:cxnLst/>
              <a:rect r="r" b="b" t="t" l="l"/>
              <a:pathLst>
                <a:path h="253051" w="1667167">
                  <a:moveTo>
                    <a:pt x="24461" y="0"/>
                  </a:moveTo>
                  <a:lnTo>
                    <a:pt x="1642707" y="0"/>
                  </a:lnTo>
                  <a:cubicBezTo>
                    <a:pt x="1656216" y="0"/>
                    <a:pt x="1667167" y="10952"/>
                    <a:pt x="1667167" y="24461"/>
                  </a:cubicBezTo>
                  <a:lnTo>
                    <a:pt x="1667167" y="228590"/>
                  </a:lnTo>
                  <a:cubicBezTo>
                    <a:pt x="1667167" y="242099"/>
                    <a:pt x="1656216" y="253051"/>
                    <a:pt x="1642707" y="253051"/>
                  </a:cubicBezTo>
                  <a:lnTo>
                    <a:pt x="24461" y="253051"/>
                  </a:lnTo>
                  <a:cubicBezTo>
                    <a:pt x="10952" y="253051"/>
                    <a:pt x="0" y="242099"/>
                    <a:pt x="0" y="228590"/>
                  </a:cubicBezTo>
                  <a:lnTo>
                    <a:pt x="0" y="24461"/>
                  </a:lnTo>
                  <a:cubicBezTo>
                    <a:pt x="0" y="10952"/>
                    <a:pt x="10952" y="0"/>
                    <a:pt x="244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7167" cy="310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70354" y="3676525"/>
            <a:ext cx="5325696" cy="4703479"/>
            <a:chOff x="0" y="0"/>
            <a:chExt cx="1402653" cy="1238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2653" cy="1238776"/>
            </a:xfrm>
            <a:custGeom>
              <a:avLst/>
              <a:gdLst/>
              <a:ahLst/>
              <a:cxnLst/>
              <a:rect r="r" b="b" t="t" l="l"/>
              <a:pathLst>
                <a:path h="1238776" w="1402653">
                  <a:moveTo>
                    <a:pt x="29074" y="0"/>
                  </a:moveTo>
                  <a:lnTo>
                    <a:pt x="1373579" y="0"/>
                  </a:lnTo>
                  <a:cubicBezTo>
                    <a:pt x="1381290" y="0"/>
                    <a:pt x="1388685" y="3063"/>
                    <a:pt x="1394137" y="8516"/>
                  </a:cubicBezTo>
                  <a:cubicBezTo>
                    <a:pt x="1399589" y="13968"/>
                    <a:pt x="1402653" y="21363"/>
                    <a:pt x="1402653" y="29074"/>
                  </a:cubicBezTo>
                  <a:lnTo>
                    <a:pt x="1402653" y="1209703"/>
                  </a:lnTo>
                  <a:cubicBezTo>
                    <a:pt x="1402653" y="1225759"/>
                    <a:pt x="1389636" y="1238776"/>
                    <a:pt x="1373579" y="1238776"/>
                  </a:cubicBezTo>
                  <a:lnTo>
                    <a:pt x="29074" y="1238776"/>
                  </a:lnTo>
                  <a:cubicBezTo>
                    <a:pt x="21363" y="1238776"/>
                    <a:pt x="13968" y="1235713"/>
                    <a:pt x="8516" y="1230261"/>
                  </a:cubicBezTo>
                  <a:cubicBezTo>
                    <a:pt x="3063" y="1224808"/>
                    <a:pt x="0" y="1217413"/>
                    <a:pt x="0" y="1209703"/>
                  </a:cubicBezTo>
                  <a:lnTo>
                    <a:pt x="0" y="29074"/>
                  </a:lnTo>
                  <a:cubicBezTo>
                    <a:pt x="0" y="21363"/>
                    <a:pt x="3063" y="13968"/>
                    <a:pt x="8516" y="8516"/>
                  </a:cubicBezTo>
                  <a:cubicBezTo>
                    <a:pt x="13968" y="3063"/>
                    <a:pt x="21363" y="0"/>
                    <a:pt x="29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02653" cy="1295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13466" y="3215403"/>
            <a:ext cx="4958691" cy="5625724"/>
          </a:xfrm>
          <a:custGeom>
            <a:avLst/>
            <a:gdLst/>
            <a:ahLst/>
            <a:cxnLst/>
            <a:rect r="r" b="b" t="t" l="l"/>
            <a:pathLst>
              <a:path h="5625724" w="4958691">
                <a:moveTo>
                  <a:pt x="0" y="0"/>
                </a:moveTo>
                <a:lnTo>
                  <a:pt x="4958691" y="0"/>
                </a:lnTo>
                <a:lnTo>
                  <a:pt x="4958691" y="5625723"/>
                </a:lnTo>
                <a:lnTo>
                  <a:pt x="0" y="5625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0610" y="876300"/>
            <a:ext cx="1664677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 Traitement en temps réel avec Spark Streaming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92811" y="2099729"/>
            <a:ext cx="710237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Spark Structured Streaming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87258" y="3928002"/>
            <a:ext cx="4691888" cy="4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sommation depuis Kafka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Parsing JSON → DataFrame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rage et enrichissement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Agrég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ations temporelles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Écritur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continue vers HDFS</a:t>
            </a:r>
          </a:p>
          <a:p>
            <a:pPr algn="l">
              <a:lnSpc>
                <a:spcPts val="4649"/>
              </a:lnSpc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Ut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ilisation du checkpointing pour la tolérance aux pannes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12183" y="8861425"/>
            <a:ext cx="476125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Format JSON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9963" y="3707970"/>
            <a:ext cx="5325696" cy="4619330"/>
            <a:chOff x="0" y="0"/>
            <a:chExt cx="1402653" cy="1216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2653" cy="1216614"/>
            </a:xfrm>
            <a:custGeom>
              <a:avLst/>
              <a:gdLst/>
              <a:ahLst/>
              <a:cxnLst/>
              <a:rect r="r" b="b" t="t" l="l"/>
              <a:pathLst>
                <a:path h="1216614" w="1402653">
                  <a:moveTo>
                    <a:pt x="29074" y="0"/>
                  </a:moveTo>
                  <a:lnTo>
                    <a:pt x="1373579" y="0"/>
                  </a:lnTo>
                  <a:cubicBezTo>
                    <a:pt x="1381290" y="0"/>
                    <a:pt x="1388685" y="3063"/>
                    <a:pt x="1394137" y="8516"/>
                  </a:cubicBezTo>
                  <a:cubicBezTo>
                    <a:pt x="1399589" y="13968"/>
                    <a:pt x="1402653" y="21363"/>
                    <a:pt x="1402653" y="29074"/>
                  </a:cubicBezTo>
                  <a:lnTo>
                    <a:pt x="1402653" y="1187540"/>
                  </a:lnTo>
                  <a:cubicBezTo>
                    <a:pt x="1402653" y="1203597"/>
                    <a:pt x="1389636" y="1216614"/>
                    <a:pt x="1373579" y="1216614"/>
                  </a:cubicBezTo>
                  <a:lnTo>
                    <a:pt x="29074" y="1216614"/>
                  </a:lnTo>
                  <a:cubicBezTo>
                    <a:pt x="21363" y="1216614"/>
                    <a:pt x="13968" y="1213551"/>
                    <a:pt x="8516" y="1208098"/>
                  </a:cubicBezTo>
                  <a:cubicBezTo>
                    <a:pt x="3063" y="1202646"/>
                    <a:pt x="0" y="1195251"/>
                    <a:pt x="0" y="1187540"/>
                  </a:cubicBezTo>
                  <a:lnTo>
                    <a:pt x="0" y="29074"/>
                  </a:lnTo>
                  <a:cubicBezTo>
                    <a:pt x="0" y="21363"/>
                    <a:pt x="3063" y="13968"/>
                    <a:pt x="8516" y="8516"/>
                  </a:cubicBezTo>
                  <a:cubicBezTo>
                    <a:pt x="13968" y="3063"/>
                    <a:pt x="21363" y="0"/>
                    <a:pt x="29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02653" cy="1273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25103" y="5622091"/>
            <a:ext cx="8434197" cy="791088"/>
          </a:xfrm>
          <a:custGeom>
            <a:avLst/>
            <a:gdLst/>
            <a:ahLst/>
            <a:cxnLst/>
            <a:rect r="r" b="b" t="t" l="l"/>
            <a:pathLst>
              <a:path h="791088" w="8434197">
                <a:moveTo>
                  <a:pt x="0" y="0"/>
                </a:moveTo>
                <a:lnTo>
                  <a:pt x="8434197" y="0"/>
                </a:lnTo>
                <a:lnTo>
                  <a:pt x="8434197" y="791089"/>
                </a:lnTo>
                <a:lnTo>
                  <a:pt x="0" y="79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993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8494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 Stockage distribué avec HDFS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88415" y="3917373"/>
            <a:ext cx="5008792" cy="4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/datalake/logs/</a:t>
            </a: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curated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Stockage au format Parquet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nnement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(dt)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(hour)</a:t>
            </a:r>
          </a:p>
          <a:p>
            <a:pPr algn="l">
              <a:lnSpc>
                <a:spcPts val="4649"/>
              </a:lnSpc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🎯 Optimi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sation des p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anc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nalytiques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92811" y="2099729"/>
            <a:ext cx="710237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Organisation du Data Lake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74677" y="3676525"/>
            <a:ext cx="5325696" cy="5272561"/>
            <a:chOff x="0" y="0"/>
            <a:chExt cx="1402653" cy="1388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2653" cy="1388658"/>
            </a:xfrm>
            <a:custGeom>
              <a:avLst/>
              <a:gdLst/>
              <a:ahLst/>
              <a:cxnLst/>
              <a:rect r="r" b="b" t="t" l="l"/>
              <a:pathLst>
                <a:path h="1388658" w="1402653">
                  <a:moveTo>
                    <a:pt x="29074" y="0"/>
                  </a:moveTo>
                  <a:lnTo>
                    <a:pt x="1373579" y="0"/>
                  </a:lnTo>
                  <a:cubicBezTo>
                    <a:pt x="1381290" y="0"/>
                    <a:pt x="1388685" y="3063"/>
                    <a:pt x="1394137" y="8516"/>
                  </a:cubicBezTo>
                  <a:cubicBezTo>
                    <a:pt x="1399589" y="13968"/>
                    <a:pt x="1402653" y="21363"/>
                    <a:pt x="1402653" y="29074"/>
                  </a:cubicBezTo>
                  <a:lnTo>
                    <a:pt x="1402653" y="1359584"/>
                  </a:lnTo>
                  <a:cubicBezTo>
                    <a:pt x="1402653" y="1367295"/>
                    <a:pt x="1399589" y="1374690"/>
                    <a:pt x="1394137" y="1380143"/>
                  </a:cubicBezTo>
                  <a:cubicBezTo>
                    <a:pt x="1388685" y="1385595"/>
                    <a:pt x="1381290" y="1388658"/>
                    <a:pt x="1373579" y="1388658"/>
                  </a:cubicBezTo>
                  <a:lnTo>
                    <a:pt x="29074" y="1388658"/>
                  </a:lnTo>
                  <a:cubicBezTo>
                    <a:pt x="21363" y="1388658"/>
                    <a:pt x="13968" y="1385595"/>
                    <a:pt x="8516" y="1380143"/>
                  </a:cubicBezTo>
                  <a:cubicBezTo>
                    <a:pt x="3063" y="1374690"/>
                    <a:pt x="0" y="1367295"/>
                    <a:pt x="0" y="1359584"/>
                  </a:cubicBezTo>
                  <a:lnTo>
                    <a:pt x="0" y="29074"/>
                  </a:lnTo>
                  <a:cubicBezTo>
                    <a:pt x="0" y="21363"/>
                    <a:pt x="3063" y="13968"/>
                    <a:pt x="8516" y="8516"/>
                  </a:cubicBezTo>
                  <a:cubicBezTo>
                    <a:pt x="13968" y="3063"/>
                    <a:pt x="21363" y="0"/>
                    <a:pt x="29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02653" cy="1445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9201818" cy="1624556"/>
          </a:xfrm>
          <a:custGeom>
            <a:avLst/>
            <a:gdLst/>
            <a:ahLst/>
            <a:cxnLst/>
            <a:rect r="r" b="b" t="t" l="l"/>
            <a:pathLst>
              <a:path h="1624556" w="9201818">
                <a:moveTo>
                  <a:pt x="0" y="0"/>
                </a:moveTo>
                <a:lnTo>
                  <a:pt x="9201818" y="0"/>
                </a:lnTo>
                <a:lnTo>
                  <a:pt x="9201818" y="1624556"/>
                </a:lnTo>
                <a:lnTo>
                  <a:pt x="0" y="1624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5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8494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9. Traitement Batch et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33129" y="3905250"/>
            <a:ext cx="5008792" cy="461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cture des données depuis HDFS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Agrégations batch :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endpoints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 pa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heur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 par hôte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sultats stockés dans :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b="true" sz="2499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/datalake/logs/analytics</a:t>
            </a:r>
          </a:p>
          <a:p>
            <a:pPr algn="l">
              <a:lnSpc>
                <a:spcPts val="4649"/>
              </a:lnSpc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Job Spark :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BatchAnalytics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92811" y="2099729"/>
            <a:ext cx="710237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Analyse globale des données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52998" y="4543880"/>
            <a:ext cx="5325696" cy="3550406"/>
            <a:chOff x="0" y="0"/>
            <a:chExt cx="1402653" cy="935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2653" cy="935086"/>
            </a:xfrm>
            <a:custGeom>
              <a:avLst/>
              <a:gdLst/>
              <a:ahLst/>
              <a:cxnLst/>
              <a:rect r="r" b="b" t="t" l="l"/>
              <a:pathLst>
                <a:path h="935086" w="1402653">
                  <a:moveTo>
                    <a:pt x="29074" y="0"/>
                  </a:moveTo>
                  <a:lnTo>
                    <a:pt x="1373579" y="0"/>
                  </a:lnTo>
                  <a:cubicBezTo>
                    <a:pt x="1381290" y="0"/>
                    <a:pt x="1388685" y="3063"/>
                    <a:pt x="1394137" y="8516"/>
                  </a:cubicBezTo>
                  <a:cubicBezTo>
                    <a:pt x="1399589" y="13968"/>
                    <a:pt x="1402653" y="21363"/>
                    <a:pt x="1402653" y="29074"/>
                  </a:cubicBezTo>
                  <a:lnTo>
                    <a:pt x="1402653" y="906013"/>
                  </a:lnTo>
                  <a:cubicBezTo>
                    <a:pt x="1402653" y="922070"/>
                    <a:pt x="1389636" y="935086"/>
                    <a:pt x="1373579" y="935086"/>
                  </a:cubicBezTo>
                  <a:lnTo>
                    <a:pt x="29074" y="935086"/>
                  </a:lnTo>
                  <a:cubicBezTo>
                    <a:pt x="21363" y="935086"/>
                    <a:pt x="13968" y="932023"/>
                    <a:pt x="8516" y="926571"/>
                  </a:cubicBezTo>
                  <a:cubicBezTo>
                    <a:pt x="3063" y="921118"/>
                    <a:pt x="0" y="913723"/>
                    <a:pt x="0" y="906013"/>
                  </a:cubicBezTo>
                  <a:lnTo>
                    <a:pt x="0" y="29074"/>
                  </a:lnTo>
                  <a:cubicBezTo>
                    <a:pt x="0" y="21363"/>
                    <a:pt x="3063" y="13968"/>
                    <a:pt x="8516" y="8516"/>
                  </a:cubicBezTo>
                  <a:cubicBezTo>
                    <a:pt x="13968" y="3063"/>
                    <a:pt x="21363" y="0"/>
                    <a:pt x="290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02653" cy="992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89629" y="3379867"/>
            <a:ext cx="8442991" cy="5878433"/>
          </a:xfrm>
          <a:custGeom>
            <a:avLst/>
            <a:gdLst/>
            <a:ahLst/>
            <a:cxnLst/>
            <a:rect r="r" b="b" t="t" l="l"/>
            <a:pathLst>
              <a:path h="5878433" w="8442991">
                <a:moveTo>
                  <a:pt x="0" y="0"/>
                </a:moveTo>
                <a:lnTo>
                  <a:pt x="8442991" y="0"/>
                </a:lnTo>
                <a:lnTo>
                  <a:pt x="8442991" y="5878433"/>
                </a:lnTo>
                <a:lnTo>
                  <a:pt x="0" y="5878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3597" y="876300"/>
            <a:ext cx="1586080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 Visualisation et validation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450" y="4753283"/>
            <a:ext cx="5008792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ration des fichiers Parquet via sp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ark-sh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Affich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tabulair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des résultat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  <a:p>
            <a:pPr algn="l" marL="539749" indent="-269875" lvl="1">
              <a:lnSpc>
                <a:spcPts val="4649"/>
              </a:lnSpc>
              <a:buFont typeface="Arial"/>
              <a:buChar char="•"/>
            </a:pP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de la cohérence des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agrégations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92811" y="2099729"/>
            <a:ext cx="710237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Vérification des résultats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8494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11. Résultats obtenus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95653" y="3690216"/>
            <a:ext cx="11296695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✔ Pipeline fonctionnel de bout en bout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8854" y="3502946"/>
            <a:ext cx="6185299" cy="943757"/>
            <a:chOff x="0" y="0"/>
            <a:chExt cx="1629050" cy="248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9050" cy="248561"/>
            </a:xfrm>
            <a:custGeom>
              <a:avLst/>
              <a:gdLst/>
              <a:ahLst/>
              <a:cxnLst/>
              <a:rect r="r" b="b" t="t" l="l"/>
              <a:pathLst>
                <a:path h="248561" w="1629050">
                  <a:moveTo>
                    <a:pt x="25033" y="0"/>
                  </a:moveTo>
                  <a:lnTo>
                    <a:pt x="1604017" y="0"/>
                  </a:lnTo>
                  <a:cubicBezTo>
                    <a:pt x="1617842" y="0"/>
                    <a:pt x="1629050" y="11208"/>
                    <a:pt x="1629050" y="25033"/>
                  </a:cubicBezTo>
                  <a:lnTo>
                    <a:pt x="1629050" y="223528"/>
                  </a:lnTo>
                  <a:cubicBezTo>
                    <a:pt x="1629050" y="237354"/>
                    <a:pt x="1617842" y="248561"/>
                    <a:pt x="1604017" y="248561"/>
                  </a:cubicBezTo>
                  <a:lnTo>
                    <a:pt x="25033" y="248561"/>
                  </a:lnTo>
                  <a:cubicBezTo>
                    <a:pt x="18394" y="248561"/>
                    <a:pt x="12027" y="245924"/>
                    <a:pt x="7332" y="241229"/>
                  </a:cubicBezTo>
                  <a:cubicBezTo>
                    <a:pt x="2637" y="236535"/>
                    <a:pt x="0" y="230167"/>
                    <a:pt x="0" y="223528"/>
                  </a:cubicBezTo>
                  <a:lnTo>
                    <a:pt x="0" y="25033"/>
                  </a:lnTo>
                  <a:cubicBezTo>
                    <a:pt x="0" y="11208"/>
                    <a:pt x="11208" y="0"/>
                    <a:pt x="250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29050" cy="30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78854" y="4684827"/>
            <a:ext cx="6185299" cy="935445"/>
            <a:chOff x="0" y="0"/>
            <a:chExt cx="1629050" cy="246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9050" cy="246372"/>
            </a:xfrm>
            <a:custGeom>
              <a:avLst/>
              <a:gdLst/>
              <a:ahLst/>
              <a:cxnLst/>
              <a:rect r="r" b="b" t="t" l="l"/>
              <a:pathLst>
                <a:path h="246372" w="1629050">
                  <a:moveTo>
                    <a:pt x="25033" y="0"/>
                  </a:moveTo>
                  <a:lnTo>
                    <a:pt x="1604017" y="0"/>
                  </a:lnTo>
                  <a:cubicBezTo>
                    <a:pt x="1617842" y="0"/>
                    <a:pt x="1629050" y="11208"/>
                    <a:pt x="1629050" y="25033"/>
                  </a:cubicBezTo>
                  <a:lnTo>
                    <a:pt x="1629050" y="221339"/>
                  </a:lnTo>
                  <a:cubicBezTo>
                    <a:pt x="1629050" y="235165"/>
                    <a:pt x="1617842" y="246372"/>
                    <a:pt x="1604017" y="246372"/>
                  </a:cubicBezTo>
                  <a:lnTo>
                    <a:pt x="25033" y="246372"/>
                  </a:lnTo>
                  <a:cubicBezTo>
                    <a:pt x="11208" y="246372"/>
                    <a:pt x="0" y="235165"/>
                    <a:pt x="0" y="221339"/>
                  </a:cubicBezTo>
                  <a:lnTo>
                    <a:pt x="0" y="25033"/>
                  </a:lnTo>
                  <a:cubicBezTo>
                    <a:pt x="0" y="11208"/>
                    <a:pt x="11208" y="0"/>
                    <a:pt x="250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29050" cy="30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78854" y="5858397"/>
            <a:ext cx="6185299" cy="935445"/>
            <a:chOff x="0" y="0"/>
            <a:chExt cx="1629050" cy="2463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9050" cy="246372"/>
            </a:xfrm>
            <a:custGeom>
              <a:avLst/>
              <a:gdLst/>
              <a:ahLst/>
              <a:cxnLst/>
              <a:rect r="r" b="b" t="t" l="l"/>
              <a:pathLst>
                <a:path h="246372" w="1629050">
                  <a:moveTo>
                    <a:pt x="25033" y="0"/>
                  </a:moveTo>
                  <a:lnTo>
                    <a:pt x="1604017" y="0"/>
                  </a:lnTo>
                  <a:cubicBezTo>
                    <a:pt x="1617842" y="0"/>
                    <a:pt x="1629050" y="11208"/>
                    <a:pt x="1629050" y="25033"/>
                  </a:cubicBezTo>
                  <a:lnTo>
                    <a:pt x="1629050" y="221339"/>
                  </a:lnTo>
                  <a:cubicBezTo>
                    <a:pt x="1629050" y="235165"/>
                    <a:pt x="1617842" y="246372"/>
                    <a:pt x="1604017" y="246372"/>
                  </a:cubicBezTo>
                  <a:lnTo>
                    <a:pt x="25033" y="246372"/>
                  </a:lnTo>
                  <a:cubicBezTo>
                    <a:pt x="11208" y="246372"/>
                    <a:pt x="0" y="235165"/>
                    <a:pt x="0" y="221339"/>
                  </a:cubicBezTo>
                  <a:lnTo>
                    <a:pt x="0" y="25033"/>
                  </a:lnTo>
                  <a:cubicBezTo>
                    <a:pt x="0" y="11208"/>
                    <a:pt x="11208" y="0"/>
                    <a:pt x="250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629050" cy="30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55023" y="3688216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55023" y="4863902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55023" y="6009379"/>
            <a:ext cx="567986" cy="567986"/>
          </a:xfrm>
          <a:custGeom>
            <a:avLst/>
            <a:gdLst/>
            <a:ahLst/>
            <a:cxnLst/>
            <a:rect r="r" b="b" t="t" l="l"/>
            <a:pathLst>
              <a:path h="567986" w="567986">
                <a:moveTo>
                  <a:pt x="0" y="0"/>
                </a:moveTo>
                <a:lnTo>
                  <a:pt x="567986" y="0"/>
                </a:lnTo>
                <a:lnTo>
                  <a:pt x="567986" y="567986"/>
                </a:lnTo>
                <a:lnTo>
                  <a:pt x="0" y="567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356096" y="4476750"/>
            <a:ext cx="3776771" cy="943757"/>
            <a:chOff x="0" y="0"/>
            <a:chExt cx="994705" cy="2485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4705" cy="248561"/>
            </a:xfrm>
            <a:custGeom>
              <a:avLst/>
              <a:gdLst/>
              <a:ahLst/>
              <a:cxnLst/>
              <a:rect r="r" b="b" t="t" l="l"/>
              <a:pathLst>
                <a:path h="248561" w="994705">
                  <a:moveTo>
                    <a:pt x="40998" y="0"/>
                  </a:moveTo>
                  <a:lnTo>
                    <a:pt x="953708" y="0"/>
                  </a:lnTo>
                  <a:cubicBezTo>
                    <a:pt x="964581" y="0"/>
                    <a:pt x="975009" y="4319"/>
                    <a:pt x="982697" y="12008"/>
                  </a:cubicBezTo>
                  <a:cubicBezTo>
                    <a:pt x="990386" y="19696"/>
                    <a:pt x="994705" y="30124"/>
                    <a:pt x="994705" y="40998"/>
                  </a:cubicBezTo>
                  <a:lnTo>
                    <a:pt x="994705" y="207564"/>
                  </a:lnTo>
                  <a:cubicBezTo>
                    <a:pt x="994705" y="218437"/>
                    <a:pt x="990386" y="228865"/>
                    <a:pt x="982697" y="236553"/>
                  </a:cubicBezTo>
                  <a:cubicBezTo>
                    <a:pt x="975009" y="244242"/>
                    <a:pt x="964581" y="248561"/>
                    <a:pt x="953708" y="248561"/>
                  </a:cubicBezTo>
                  <a:lnTo>
                    <a:pt x="40998" y="248561"/>
                  </a:lnTo>
                  <a:cubicBezTo>
                    <a:pt x="30124" y="248561"/>
                    <a:pt x="19696" y="244242"/>
                    <a:pt x="12008" y="236553"/>
                  </a:cubicBezTo>
                  <a:cubicBezTo>
                    <a:pt x="4319" y="228865"/>
                    <a:pt x="0" y="218437"/>
                    <a:pt x="0" y="207564"/>
                  </a:cubicBezTo>
                  <a:lnTo>
                    <a:pt x="0" y="40998"/>
                  </a:lnTo>
                  <a:cubicBezTo>
                    <a:pt x="0" y="30124"/>
                    <a:pt x="4319" y="19696"/>
                    <a:pt x="12008" y="12008"/>
                  </a:cubicBezTo>
                  <a:cubicBezTo>
                    <a:pt x="19696" y="4319"/>
                    <a:pt x="30124" y="0"/>
                    <a:pt x="40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94705" cy="30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56096" y="5658632"/>
            <a:ext cx="3776771" cy="935445"/>
            <a:chOff x="0" y="0"/>
            <a:chExt cx="994705" cy="2463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4705" cy="246372"/>
            </a:xfrm>
            <a:custGeom>
              <a:avLst/>
              <a:gdLst/>
              <a:ahLst/>
              <a:cxnLst/>
              <a:rect r="r" b="b" t="t" l="l"/>
              <a:pathLst>
                <a:path h="246372" w="994705">
                  <a:moveTo>
                    <a:pt x="40998" y="0"/>
                  </a:moveTo>
                  <a:lnTo>
                    <a:pt x="953708" y="0"/>
                  </a:lnTo>
                  <a:cubicBezTo>
                    <a:pt x="964581" y="0"/>
                    <a:pt x="975009" y="4319"/>
                    <a:pt x="982697" y="12008"/>
                  </a:cubicBezTo>
                  <a:cubicBezTo>
                    <a:pt x="990386" y="19696"/>
                    <a:pt x="994705" y="30124"/>
                    <a:pt x="994705" y="40998"/>
                  </a:cubicBezTo>
                  <a:lnTo>
                    <a:pt x="994705" y="205375"/>
                  </a:lnTo>
                  <a:cubicBezTo>
                    <a:pt x="994705" y="216248"/>
                    <a:pt x="990386" y="226676"/>
                    <a:pt x="982697" y="234364"/>
                  </a:cubicBezTo>
                  <a:cubicBezTo>
                    <a:pt x="975009" y="242053"/>
                    <a:pt x="964581" y="246372"/>
                    <a:pt x="953708" y="246372"/>
                  </a:cubicBezTo>
                  <a:lnTo>
                    <a:pt x="40998" y="246372"/>
                  </a:lnTo>
                  <a:cubicBezTo>
                    <a:pt x="30124" y="246372"/>
                    <a:pt x="19696" y="242053"/>
                    <a:pt x="12008" y="234364"/>
                  </a:cubicBezTo>
                  <a:cubicBezTo>
                    <a:pt x="4319" y="226676"/>
                    <a:pt x="0" y="216248"/>
                    <a:pt x="0" y="205375"/>
                  </a:cubicBezTo>
                  <a:lnTo>
                    <a:pt x="0" y="40998"/>
                  </a:lnTo>
                  <a:cubicBezTo>
                    <a:pt x="0" y="30124"/>
                    <a:pt x="4319" y="19696"/>
                    <a:pt x="12008" y="12008"/>
                  </a:cubicBezTo>
                  <a:cubicBezTo>
                    <a:pt x="19696" y="4319"/>
                    <a:pt x="30124" y="0"/>
                    <a:pt x="40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94705" cy="30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56096" y="6832202"/>
            <a:ext cx="3776771" cy="935445"/>
            <a:chOff x="0" y="0"/>
            <a:chExt cx="994705" cy="2463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4705" cy="246372"/>
            </a:xfrm>
            <a:custGeom>
              <a:avLst/>
              <a:gdLst/>
              <a:ahLst/>
              <a:cxnLst/>
              <a:rect r="r" b="b" t="t" l="l"/>
              <a:pathLst>
                <a:path h="246372" w="994705">
                  <a:moveTo>
                    <a:pt x="40998" y="0"/>
                  </a:moveTo>
                  <a:lnTo>
                    <a:pt x="953708" y="0"/>
                  </a:lnTo>
                  <a:cubicBezTo>
                    <a:pt x="964581" y="0"/>
                    <a:pt x="975009" y="4319"/>
                    <a:pt x="982697" y="12008"/>
                  </a:cubicBezTo>
                  <a:cubicBezTo>
                    <a:pt x="990386" y="19696"/>
                    <a:pt x="994705" y="30124"/>
                    <a:pt x="994705" y="40998"/>
                  </a:cubicBezTo>
                  <a:lnTo>
                    <a:pt x="994705" y="205375"/>
                  </a:lnTo>
                  <a:cubicBezTo>
                    <a:pt x="994705" y="216248"/>
                    <a:pt x="990386" y="226676"/>
                    <a:pt x="982697" y="234364"/>
                  </a:cubicBezTo>
                  <a:cubicBezTo>
                    <a:pt x="975009" y="242053"/>
                    <a:pt x="964581" y="246372"/>
                    <a:pt x="953708" y="246372"/>
                  </a:cubicBezTo>
                  <a:lnTo>
                    <a:pt x="40998" y="246372"/>
                  </a:lnTo>
                  <a:cubicBezTo>
                    <a:pt x="30124" y="246372"/>
                    <a:pt x="19696" y="242053"/>
                    <a:pt x="12008" y="234364"/>
                  </a:cubicBezTo>
                  <a:cubicBezTo>
                    <a:pt x="4319" y="226676"/>
                    <a:pt x="0" y="216248"/>
                    <a:pt x="0" y="205375"/>
                  </a:cubicBezTo>
                  <a:lnTo>
                    <a:pt x="0" y="40998"/>
                  </a:lnTo>
                  <a:cubicBezTo>
                    <a:pt x="0" y="30124"/>
                    <a:pt x="4319" y="19696"/>
                    <a:pt x="12008" y="12008"/>
                  </a:cubicBezTo>
                  <a:cubicBezTo>
                    <a:pt x="19696" y="4319"/>
                    <a:pt x="30124" y="0"/>
                    <a:pt x="40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17171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94705" cy="30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505441" y="4702777"/>
            <a:ext cx="3374404" cy="2847153"/>
          </a:xfrm>
          <a:custGeom>
            <a:avLst/>
            <a:gdLst/>
            <a:ahLst/>
            <a:cxnLst/>
            <a:rect r="r" b="b" t="t" l="l"/>
            <a:pathLst>
              <a:path h="2847153" w="3374404">
                <a:moveTo>
                  <a:pt x="0" y="0"/>
                </a:moveTo>
                <a:lnTo>
                  <a:pt x="3374405" y="0"/>
                </a:lnTo>
                <a:lnTo>
                  <a:pt x="3374405" y="2847154"/>
                </a:lnTo>
                <a:lnTo>
                  <a:pt x="0" y="2847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98494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11. Résultats obtenus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15783" y="3727734"/>
            <a:ext cx="47483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Logs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traités en continu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15783" y="4908097"/>
            <a:ext cx="47483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Donné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 structurées et persistées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15783" y="6048897"/>
            <a:ext cx="47483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Indica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teurs exploitables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21297" y="4704153"/>
            <a:ext cx="204636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Trafic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84806" y="5910471"/>
            <a:ext cx="204636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Erreurs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83113" y="7022702"/>
            <a:ext cx="364975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</a:t>
            </a:r>
            <a:r>
              <a:rPr lang="en-US" sz="2499" b="true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 applicatives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9300" y="4259699"/>
            <a:ext cx="6570503" cy="3285252"/>
          </a:xfrm>
          <a:custGeom>
            <a:avLst/>
            <a:gdLst/>
            <a:ahLst/>
            <a:cxnLst/>
            <a:rect r="r" b="b" t="t" l="l"/>
            <a:pathLst>
              <a:path h="3285252" w="6570503">
                <a:moveTo>
                  <a:pt x="0" y="0"/>
                </a:moveTo>
                <a:lnTo>
                  <a:pt x="6570503" y="0"/>
                </a:lnTo>
                <a:lnTo>
                  <a:pt x="6570503" y="3285252"/>
                </a:lnTo>
                <a:lnTo>
                  <a:pt x="0" y="3285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03369" y="4259699"/>
            <a:ext cx="4899732" cy="2756099"/>
          </a:xfrm>
          <a:custGeom>
            <a:avLst/>
            <a:gdLst/>
            <a:ahLst/>
            <a:cxnLst/>
            <a:rect r="r" b="b" t="t" l="l"/>
            <a:pathLst>
              <a:path h="2756099" w="4899732">
                <a:moveTo>
                  <a:pt x="0" y="0"/>
                </a:moveTo>
                <a:lnTo>
                  <a:pt x="4899732" y="0"/>
                </a:lnTo>
                <a:lnTo>
                  <a:pt x="4899732" y="2756100"/>
                </a:lnTo>
                <a:lnTo>
                  <a:pt x="0" y="275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8494" y="876300"/>
            <a:ext cx="154910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12. Améliorations possibles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1736" y="3561199"/>
            <a:ext cx="568563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Visualisation sur Grafana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10420" y="3561199"/>
            <a:ext cx="568563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Déploiement Cloud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DAG8c2CgdfM</dc:identifier>
  <dcterms:modified xsi:type="dcterms:W3CDTF">2011-08-01T06:04:30Z</dcterms:modified>
  <cp:revision>1</cp:revision>
  <dc:title>Projet Big Data</dc:title>
</cp:coreProperties>
</file>